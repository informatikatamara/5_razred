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 Babić" userId="05b040d7b252926f" providerId="LiveId" clId="{67E26135-9763-498D-A25D-3002D6A6C97E}"/>
    <pc:docChg chg="custSel modSld">
      <pc:chgData name="Tamara Babić" userId="05b040d7b252926f" providerId="LiveId" clId="{67E26135-9763-498D-A25D-3002D6A6C97E}" dt="2026-09-15T07:57:30.302" v="2" actId="14100"/>
      <pc:docMkLst>
        <pc:docMk/>
      </pc:docMkLst>
      <pc:sldChg chg="addSp modSp mod setBg">
        <pc:chgData name="Tamara Babić" userId="05b040d7b252926f" providerId="LiveId" clId="{67E26135-9763-498D-A25D-3002D6A6C97E}" dt="2026-09-15T07:57:30.302" v="2" actId="14100"/>
        <pc:sldMkLst>
          <pc:docMk/>
          <pc:sldMk cId="1026294951" sldId="261"/>
        </pc:sldMkLst>
        <pc:spChg chg="mod">
          <ac:chgData name="Tamara Babić" userId="05b040d7b252926f" providerId="LiveId" clId="{67E26135-9763-498D-A25D-3002D6A6C97E}" dt="2026-09-15T07:57:12.257" v="0" actId="26606"/>
          <ac:spMkLst>
            <pc:docMk/>
            <pc:sldMk cId="1026294951" sldId="261"/>
            <ac:spMk id="2" creationId="{86C0A6F4-F011-6FF1-5BC4-36BF26525B7D}"/>
          </ac:spMkLst>
        </pc:spChg>
        <pc:spChg chg="mod">
          <ac:chgData name="Tamara Babić" userId="05b040d7b252926f" providerId="LiveId" clId="{67E26135-9763-498D-A25D-3002D6A6C97E}" dt="2026-09-15T07:57:30.302" v="2" actId="14100"/>
          <ac:spMkLst>
            <pc:docMk/>
            <pc:sldMk cId="1026294951" sldId="261"/>
            <ac:spMk id="3" creationId="{2FCC110F-A725-DDFB-8169-6CE6C04BD350}"/>
          </ac:spMkLst>
        </pc:spChg>
        <pc:spChg chg="add">
          <ac:chgData name="Tamara Babić" userId="05b040d7b252926f" providerId="LiveId" clId="{67E26135-9763-498D-A25D-3002D6A6C97E}" dt="2026-09-15T07:57:12.257" v="0" actId="26606"/>
          <ac:spMkLst>
            <pc:docMk/>
            <pc:sldMk cId="1026294951" sldId="261"/>
            <ac:spMk id="8" creationId="{C2554CA6-288E-4202-BC52-2E5A8F0C0AED}"/>
          </ac:spMkLst>
        </pc:spChg>
        <pc:spChg chg="add">
          <ac:chgData name="Tamara Babić" userId="05b040d7b252926f" providerId="LiveId" clId="{67E26135-9763-498D-A25D-3002D6A6C97E}" dt="2026-09-15T07:57:12.257" v="0" actId="26606"/>
          <ac:spMkLst>
            <pc:docMk/>
            <pc:sldMk cId="1026294951" sldId="261"/>
            <ac:spMk id="10" creationId="{B10BB131-AC8E-4A8E-A5D1-36260F720C3B}"/>
          </ac:spMkLst>
        </pc:spChg>
        <pc:spChg chg="add">
          <ac:chgData name="Tamara Babić" userId="05b040d7b252926f" providerId="LiveId" clId="{67E26135-9763-498D-A25D-3002D6A6C97E}" dt="2026-09-15T07:57:12.257" v="0" actId="26606"/>
          <ac:spMkLst>
            <pc:docMk/>
            <pc:sldMk cId="1026294951" sldId="261"/>
            <ac:spMk id="12" creationId="{5B7778FC-632E-4DCA-A7CB-0D7731CCF970}"/>
          </ac:spMkLst>
        </pc:spChg>
        <pc:spChg chg="add">
          <ac:chgData name="Tamara Babić" userId="05b040d7b252926f" providerId="LiveId" clId="{67E26135-9763-498D-A25D-3002D6A6C97E}" dt="2026-09-15T07:57:12.257" v="0" actId="26606"/>
          <ac:spMkLst>
            <pc:docMk/>
            <pc:sldMk cId="1026294951" sldId="261"/>
            <ac:spMk id="14" creationId="{FA23A907-97FB-4A8F-880A-DD77401C429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B260-AAD2-380A-7BF1-D81B3635C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68FCA-2E76-03C7-6A95-E4186711B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B68A-6C9C-1731-518D-B8654E54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75F5-569C-8EA1-D336-726E0AF4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C284-B227-AB30-30E3-AC7A66F0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1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522F-C0BE-F740-6993-EE50F1AE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9D85-3A4C-4AC7-57DF-1DC274E0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20191-4A07-BF96-96A8-33E6753E2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2C2A5-B79B-EFAB-2F39-063BEDC6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BE28-EC13-6D57-6DEC-3DB4AC69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75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E315-89EE-790A-1C97-18EFA35F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E9590-47D4-0C51-29A3-426A97CD3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AF42-6C1C-377F-2BB5-1C990409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5D6B6-9B3F-7E87-9FBD-A2DA9230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99F20-B3F7-70B1-375C-D12EBB22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6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34E2-BB4E-BD06-2394-F38F12D5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3ECFE-FCFB-97C8-CF9C-B72A7D5C0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2328F-CC9E-4C0D-A6A7-B348FAB24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019-B90B-FBE6-0E7C-EE391404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3CF1F-61D2-75B4-ECD0-EFA5B287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D1CFF-06E1-C072-C900-A5B7FAFA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24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F35E-ACC2-77BE-B9A3-8F1B6602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F6F86-0BB7-B03E-F4C3-7CB74793E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BC196-C51B-C95E-0E9D-90C47179C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F13141-7F7A-04BD-DCFF-E0D868699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E7688-B987-13E8-C4DE-23B59697D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65543-194F-5C02-21E9-0F05D98E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BF7AC-5365-6517-406D-6836C2D4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68A314-D2E5-E712-BB6C-2EA49327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0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F3C11-F773-F6EA-0A29-264E72CF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E1147-1B1A-45FA-AB07-23023A05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027F4-3429-9C4E-98F4-C683A2AF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78362-7663-EA56-BA09-7DAE69A5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03234-332C-4A0F-6ECE-DFB1D623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7D31-C6E3-4B7B-9A07-48190C67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E4F9C-811D-01F4-970A-29BCB37D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4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ABB6-9492-A6FB-D417-884C8BFF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2737-F347-6FA1-B10F-453385A11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25F07-5CCE-E2EA-3C5C-5897E6C9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706EA-A50B-32AA-B540-C472A15D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3A0CC-EC3E-BD4C-F746-7AC29088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383EC-4F8C-C271-A9BA-76231D73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8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2343-C211-6E7F-8CE4-5C38C0D36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B61D2-F0A1-04DE-1CA3-433E3F30E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ABEC6-2642-912C-52F3-75C65E341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CA4D0-88AB-1F4F-E495-E169FA65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267DF-76D2-414B-C69B-76C20B4DB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EF80A-828F-6B15-D7F0-63838C991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6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028E2-13D1-FABF-23AE-C13AACB03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C55BF-00E6-3CE8-9FDD-0F9E62FE8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54200-F0A3-F69E-27BF-12184DD1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5D54-3EB7-E0DE-1B95-117A87CA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BBEC7-9296-00FE-5C24-B6AC2E36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5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0B73AC-24CF-4DF8-70EC-2F74484DD8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9316D-06C9-0DDB-3EEC-B054ED48E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C852B-18B1-8D16-D921-1362508A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9FD5C-F69A-BF24-3EFA-E124C05B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70AB-B06C-3FE7-3A44-594D98BF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5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B5593-D13E-1991-7863-A061E5D7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9EF39-A2B3-2C4A-61A5-047377991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C6405-D6B8-4B86-0A2D-FC620CFFE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8C208-DE70-47E2-8884-E0D38179B8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D5E5D-3766-C935-D8DE-3E4F4395E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1CC19-E6C0-E8F0-9012-2E087953D7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8322F-B616-4E07-82CA-B2B98DC9A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3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62478-31D7-1E12-5767-05C16911F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sr-Cyrl-RS" dirty="0"/>
              <a:t>Информатика и рачунарство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2FA26-8876-0ECA-0A5E-E9F796B40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2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44511-3136-FE51-E918-DB929F68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sr-Cyrl-RS" sz="4100">
                <a:solidFill>
                  <a:srgbClr val="FFFFFF"/>
                </a:solidFill>
              </a:rPr>
              <a:t>Податак и информација</a:t>
            </a:r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612D-FA22-C697-B6AB-CC6B0C7E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sr-Cyrl-RS" dirty="0"/>
              <a:t>Податак је чињеница о неком предмету, бићу или стању.</a:t>
            </a:r>
          </a:p>
          <a:p>
            <a:pPr lvl="1"/>
            <a:r>
              <a:rPr lang="sr-Cyrl-RS" dirty="0"/>
              <a:t>На пример: Утакмица, 8, сати</a:t>
            </a:r>
          </a:p>
          <a:p>
            <a:pPr lvl="1"/>
            <a:endParaRPr lang="sr-Cyrl-RS" dirty="0"/>
          </a:p>
          <a:p>
            <a:r>
              <a:rPr lang="sr-Cyrl-RS" dirty="0"/>
              <a:t>Информација су подаци повезани тако да имају смисао.</a:t>
            </a:r>
          </a:p>
          <a:p>
            <a:pPr lvl="1"/>
            <a:r>
              <a:rPr lang="sr-Cyrl-RS" dirty="0"/>
              <a:t>На пример: Утакмица је у 8 сати (подаци из претходног примера повезани тако да имају смисла)</a:t>
            </a:r>
          </a:p>
        </p:txBody>
      </p:sp>
    </p:spTree>
    <p:extLst>
      <p:ext uri="{BB962C8B-B14F-4D97-AF65-F5344CB8AC3E}">
        <p14:creationId xmlns:p14="http://schemas.microsoft.com/office/powerpoint/2010/main" val="329168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09E1E-059C-F39E-DB2A-20B31BFC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sr-Cyrl-RS" dirty="0"/>
              <a:t>Информатика и рачунарство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D98FAA-4CA9-019F-8CD3-5DD1124D31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353" y="598677"/>
            <a:ext cx="4265742" cy="2733294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CBCF5-CFB0-D519-D169-8B5C9DB9C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353" y="3526029"/>
            <a:ext cx="3042206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60BF-B270-1472-E0AE-AFB4A24EA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sr-Cyrl-RS" sz="2400"/>
              <a:t>Информатика је наука која изучава начине прикупљања, чувања, обраде, преноса и коришћења података.</a:t>
            </a:r>
          </a:p>
          <a:p>
            <a:r>
              <a:rPr lang="sr-Cyrl-RS" sz="2400"/>
              <a:t>Рачунар је електрични уређај који аутоматизује прикупљање, чување, обраду, пренос и коришћење података.</a:t>
            </a:r>
          </a:p>
          <a:p>
            <a:r>
              <a:rPr lang="sr-Cyrl-RS" sz="2400"/>
              <a:t>Сви уређаји који могу да прикупљају, чувају, обрађују, преносе и користе податке чине </a:t>
            </a:r>
            <a:r>
              <a:rPr lang="sr-Cyrl-RS" sz="2400" b="1"/>
              <a:t>информационе технологије.</a:t>
            </a:r>
          </a:p>
          <a:p>
            <a:endParaRPr lang="en-US" sz="2400" b="1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47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CBB6D-8375-E1BE-D979-DC337B88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sr-Cyrl-RS" sz="2500"/>
              <a:t>ИКТ – информационо – комуникационе технологије</a:t>
            </a:r>
            <a:endParaRPr lang="en-US" sz="25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C4F7C-D5B7-BB0F-5EE3-48FB40401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sr-Cyrl-RS" sz="1800"/>
              <a:t>Дигитални уређаји које данас користимо: персонални рачунари, мобилни телефони, таблети, сви могу да се користе за комуникацију, међусобно или са другим уређајима.</a:t>
            </a:r>
          </a:p>
          <a:p>
            <a:endParaRPr lang="sr-Cyrl-RS" sz="1800"/>
          </a:p>
          <a:p>
            <a:r>
              <a:rPr lang="sr-Cyrl-RS" sz="1800"/>
              <a:t>Због тога се више не ради само о информационим технологијама, већ о информационо – комуникационим технологијама.</a:t>
            </a:r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D398E-ECA3-A0E6-EBA1-2121818137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738" y="1610091"/>
            <a:ext cx="5628018" cy="34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2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864A2-DCA6-9675-A419-A0C3BF4A3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sr-Cyrl-RS">
                <a:solidFill>
                  <a:srgbClr val="FFFFFF"/>
                </a:solidFill>
              </a:rPr>
              <a:t>Рачунар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43BE0-27D4-DBBC-C4D1-9E9A979FB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sr-Cyrl-RS" sz="2400" dirty="0"/>
              <a:t>Рачунар/компјутер је уређај који може аутоматски да прикупља, чува, обрађује, преноси податке.</a:t>
            </a:r>
          </a:p>
          <a:p>
            <a:r>
              <a:rPr lang="sr-Cyrl-RS" sz="2400" dirty="0"/>
              <a:t>Основни делови рачунара су: </a:t>
            </a:r>
          </a:p>
          <a:p>
            <a:pPr lvl="1"/>
            <a:r>
              <a:rPr lang="sr-Cyrl-RS" b="1" dirty="0"/>
              <a:t>Матична плоча </a:t>
            </a:r>
            <a:r>
              <a:rPr lang="sr-Cyrl-RS" dirty="0"/>
              <a:t>– повезује све делове рачунара у једну целину</a:t>
            </a:r>
          </a:p>
          <a:p>
            <a:pPr lvl="1"/>
            <a:r>
              <a:rPr lang="sr-Cyrl-RS" b="1" dirty="0"/>
              <a:t>Хард – диск </a:t>
            </a:r>
            <a:r>
              <a:rPr lang="sr-Cyrl-RS" dirty="0"/>
              <a:t>– трајно чува програме и податке</a:t>
            </a:r>
          </a:p>
          <a:p>
            <a:pPr lvl="1"/>
            <a:r>
              <a:rPr lang="sr-Cyrl-RS" b="1" dirty="0"/>
              <a:t>Радна меморија – РАМ меморија </a:t>
            </a:r>
            <a:r>
              <a:rPr lang="sr-Cyrl-RS" dirty="0"/>
              <a:t>– учитава податке само док се користе.</a:t>
            </a:r>
          </a:p>
          <a:p>
            <a:pPr lvl="1"/>
            <a:r>
              <a:rPr lang="sr-Cyrl-RS" b="1" dirty="0"/>
              <a:t>Улазни уређаји</a:t>
            </a:r>
            <a:r>
              <a:rPr lang="sr-Cyrl-RS" dirty="0"/>
              <a:t> – уређаји којима можемо задати рачунару наредбе и команде – миш, тастатура.</a:t>
            </a:r>
          </a:p>
          <a:p>
            <a:pPr lvl="1"/>
            <a:r>
              <a:rPr lang="sr-Cyrl-RS" b="1" dirty="0"/>
              <a:t>Излазни уређаји </a:t>
            </a:r>
            <a:r>
              <a:rPr lang="sr-Cyrl-RS" dirty="0"/>
              <a:t>– монитор, штампач, звучници.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12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0A6F4-F011-6FF1-5BC4-36BF2652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sr-Cyrl-RS">
                <a:solidFill>
                  <a:srgbClr val="FFFFFF"/>
                </a:solidFill>
              </a:rPr>
              <a:t>Јединице мере рачунарске меморије	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110F-A725-DDFB-8169-6CE6C04BD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396687"/>
            <a:ext cx="5536397" cy="4064628"/>
          </a:xfrm>
        </p:spPr>
        <p:txBody>
          <a:bodyPr>
            <a:normAutofit/>
          </a:bodyPr>
          <a:lstStyle/>
          <a:p>
            <a:r>
              <a:rPr lang="sr-Cyrl-RS" sz="2600" b="1" dirty="0"/>
              <a:t>Најмања јединица мере за рачунарску меморију је бит (</a:t>
            </a:r>
            <a:r>
              <a:rPr lang="en-US" sz="2600" b="1" dirty="0"/>
              <a:t>b).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600" b="1" dirty="0"/>
              <a:t>1B (byte-</a:t>
            </a:r>
            <a:r>
              <a:rPr lang="sr-Cyrl-RS" sz="2600" b="1" dirty="0"/>
              <a:t>бајт) = 8 бита </a:t>
            </a:r>
            <a:endParaRPr lang="en-US" sz="2600" b="1" dirty="0"/>
          </a:p>
          <a:p>
            <a:pPr marL="0" indent="0" algn="ctr">
              <a:spcBef>
                <a:spcPts val="0"/>
              </a:spcBef>
              <a:buNone/>
            </a:pPr>
            <a:r>
              <a:rPr lang="sr-Cyrl-RS" sz="2600" dirty="0"/>
              <a:t>(меморија довољна за смештање једног знака)</a:t>
            </a:r>
          </a:p>
          <a:p>
            <a:pPr marL="0" indent="0" algn="ctr">
              <a:buNone/>
            </a:pPr>
            <a:r>
              <a:rPr lang="sr-Cyrl-RS" sz="2600" b="1" dirty="0"/>
              <a:t>1К</a:t>
            </a:r>
            <a:r>
              <a:rPr lang="en-US" sz="2600" b="1" dirty="0"/>
              <a:t>B = 1024 B</a:t>
            </a:r>
          </a:p>
          <a:p>
            <a:pPr marL="0" indent="0" algn="ctr">
              <a:buNone/>
            </a:pPr>
            <a:r>
              <a:rPr lang="en-US" sz="2600" b="1" dirty="0"/>
              <a:t>1MB = 1024 KB</a:t>
            </a:r>
          </a:p>
          <a:p>
            <a:pPr marL="0" indent="0" algn="ctr">
              <a:buNone/>
            </a:pPr>
            <a:r>
              <a:rPr lang="en-US" sz="2600" b="1" dirty="0"/>
              <a:t>1 GB = 1024 MB</a:t>
            </a:r>
          </a:p>
          <a:p>
            <a:pPr marL="0" indent="0" algn="ctr">
              <a:buNone/>
            </a:pPr>
            <a:r>
              <a:rPr lang="en-US" sz="2600" b="1" dirty="0"/>
              <a:t>1 TB = 1024 GB</a:t>
            </a:r>
            <a:endParaRPr lang="sr-Cyrl-RS" sz="2600" b="1" dirty="0"/>
          </a:p>
          <a:p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026294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Информатика и рачунарство</vt:lpstr>
      <vt:lpstr>Податак и информација</vt:lpstr>
      <vt:lpstr>Информатика и рачунарство</vt:lpstr>
      <vt:lpstr>ИКТ – информационо – комуникационе технологије</vt:lpstr>
      <vt:lpstr>Рачунар</vt:lpstr>
      <vt:lpstr>Јединице мере рачунарске меморије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Tamara Babić</dc:creator>
  <cp:lastModifiedBy>Tamara Babić</cp:lastModifiedBy>
  <cp:revision>1</cp:revision>
  <dcterms:created xsi:type="dcterms:W3CDTF">2026-09-15T07:46:33Z</dcterms:created>
  <dcterms:modified xsi:type="dcterms:W3CDTF">2026-09-15T07:57:34Z</dcterms:modified>
</cp:coreProperties>
</file>